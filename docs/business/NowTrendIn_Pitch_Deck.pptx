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69080" y="1051560"/>
            <a:ext cx="1005840" cy="1005840"/>
          </a:xfrm>
          <a:prstGeom prst="ellipse">
            <a:avLst/>
          </a:prstGeom>
          <a:solidFill>
            <a:srgbClr val="16263D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0657" y="1323137"/>
            <a:ext cx="462686" cy="4626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2402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07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</a:t>
            </a:r>
            <a:pPr algn="ctr" indent="0" marL="0">
              <a:buNone/>
            </a:pPr>
            <a:r>
              <a:rPr lang="en-US" sz="4800" b="1" dirty="0">
                <a:solidFill>
                  <a:srgbClr val="EAEF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TrendIn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0" y="30358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500" kern="0" dirty="0">
                <a:solidFill>
                  <a:srgbClr val="8094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INTELLIGENCE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371600" y="36118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C2CE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only attention platform built on signal search can’t see —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C2CE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disciplined enough to show its work.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0" y="4709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200" kern="0" dirty="0">
                <a:solidFill>
                  <a:srgbClr val="8094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institutional investors  ·  Confidential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7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EAEF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attention you can see is already gone.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EA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tools everyone uses read attention from one place — search.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C2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people search for something only after they’ve already heard of it. So those tools measure popularity by measuring popularity — they confirm what is already mainstream, and call it a trend.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i="1" dirty="0">
                <a:solidFill>
                  <a:srgbClr val="E07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circular. And the category that sells it runs on claims no one can verify.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32120" y="1600200"/>
            <a:ext cx="3063240" cy="2697480"/>
          </a:xfrm>
          <a:prstGeom prst="roundRect">
            <a:avLst>
              <a:gd name="adj" fmla="val 2712"/>
            </a:avLst>
          </a:prstGeom>
          <a:solidFill>
            <a:srgbClr val="16263D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20840" y="1965960"/>
            <a:ext cx="685800" cy="685800"/>
          </a:xfrm>
          <a:prstGeom prst="ellipse">
            <a:avLst/>
          </a:prstGeom>
          <a:solidFill>
            <a:srgbClr val="1E314C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6006" y="2151126"/>
            <a:ext cx="315468" cy="3154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760720" y="2788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A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MEASURES THE MAINSTREAM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720840" y="3246120"/>
            <a:ext cx="502920" cy="502920"/>
          </a:xfrm>
          <a:prstGeom prst="ellipse">
            <a:avLst/>
          </a:prstGeom>
          <a:solidFill>
            <a:srgbClr val="1E314C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6628" y="3381908"/>
            <a:ext cx="231343" cy="2313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60720" y="38221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094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…then reports the mainstream back to you.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48640" y="4800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7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pPr indent="0" marL="0">
              <a:buNone/>
            </a:pPr>
            <a:r>
              <a:rPr lang="en-US" sz="900" b="1" spc="100" kern="0" dirty="0">
                <a:solidFill>
                  <a:srgbClr val="8094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TrendIn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32104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4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7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EAEF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forms before search sees it.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C2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earliest evidence of where attention is heading appears across independent, upstream channels — long before it ever concentrates into a search. That signal is fragmented, noisy, and invisible to search-based tools. No one measures it rigorously, across channels, in one place.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68680" y="3063240"/>
            <a:ext cx="868680" cy="868680"/>
          </a:xfrm>
          <a:prstGeom prst="ellipse">
            <a:avLst/>
          </a:prstGeom>
          <a:solidFill>
            <a:srgbClr val="1E314C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224" y="3297784"/>
            <a:ext cx="399593" cy="3995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40416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EA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496312" y="3063240"/>
            <a:ext cx="868680" cy="868680"/>
          </a:xfrm>
          <a:prstGeom prst="ellipse">
            <a:avLst/>
          </a:prstGeom>
          <a:solidFill>
            <a:srgbClr val="1E314C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856" y="3297784"/>
            <a:ext cx="399593" cy="39959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267712" y="40416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EA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123944" y="3063240"/>
            <a:ext cx="868680" cy="868680"/>
          </a:xfrm>
          <a:prstGeom prst="ellipse">
            <a:avLst/>
          </a:prstGeom>
          <a:solidFill>
            <a:srgbClr val="1E314C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8488" y="3297784"/>
            <a:ext cx="399593" cy="39959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895344" y="40416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EA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5751576" y="3063240"/>
            <a:ext cx="868680" cy="868680"/>
          </a:xfrm>
          <a:prstGeom prst="ellipse">
            <a:avLst/>
          </a:prstGeom>
          <a:solidFill>
            <a:srgbClr val="1E314C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6120" y="3297784"/>
            <a:ext cx="399593" cy="39959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522976" y="40416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EA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7379208" y="3063240"/>
            <a:ext cx="868680" cy="868680"/>
          </a:xfrm>
          <a:prstGeom prst="ellipse">
            <a:avLst/>
          </a:prstGeom>
          <a:solidFill>
            <a:srgbClr val="1E314C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3752" y="3297784"/>
            <a:ext cx="399593" cy="39959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150608" y="40416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EA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150" dirty="0"/>
          </a:p>
        </p:txBody>
      </p:sp>
      <p:sp>
        <p:nvSpPr>
          <p:cNvPr id="20" name="Text 13"/>
          <p:cNvSpPr/>
          <p:nvPr/>
        </p:nvSpPr>
        <p:spPr>
          <a:xfrm>
            <a:off x="2834640" y="45902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E07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STRUCTURED VIEW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7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EAEF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instrument for the attention search can’t see.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b="1" dirty="0">
                <a:solidFill>
                  <a:srgbClr val="EA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TrendIn is an attention-intelligence platform.</a:t>
            </a:r>
            <a:endParaRPr lang="en-US" sz="15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C2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reads multiple independent upstream channels — code, dev, social, news, and market activity — and turns fragmented, off-search signal into structured, comparable intelligence.</a:t>
            </a:r>
            <a:endParaRPr lang="en-US" sz="1550" dirty="0"/>
          </a:p>
          <a:p>
            <a:pPr indent="0" marL="0">
              <a:lnSpc>
                <a:spcPct val="118000"/>
              </a:lnSpc>
              <a:buNone/>
            </a:pPr>
            <a:endParaRPr lang="en-US" sz="15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C2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institutions that need to understand where attention is concentrating — grounded in evidence, not echo.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532120" y="1737360"/>
            <a:ext cx="3063240" cy="713232"/>
          </a:xfrm>
          <a:prstGeom prst="roundRect">
            <a:avLst>
              <a:gd name="adj" fmla="val 10256"/>
            </a:avLst>
          </a:prstGeom>
          <a:solidFill>
            <a:srgbClr val="16263D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15000" y="1883664"/>
            <a:ext cx="420624" cy="420624"/>
          </a:xfrm>
          <a:prstGeom prst="ellipse">
            <a:avLst/>
          </a:prstGeom>
          <a:solidFill>
            <a:srgbClr val="1E314C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8568" y="1997232"/>
            <a:ext cx="193487" cy="1934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63640" y="1737360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upstream channels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532120" y="2578608"/>
            <a:ext cx="3063240" cy="713232"/>
          </a:xfrm>
          <a:prstGeom prst="roundRect">
            <a:avLst>
              <a:gd name="adj" fmla="val 10256"/>
            </a:avLst>
          </a:prstGeom>
          <a:solidFill>
            <a:srgbClr val="16263D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15000" y="2724912"/>
            <a:ext cx="420624" cy="420624"/>
          </a:xfrm>
          <a:prstGeom prst="ellipse">
            <a:avLst/>
          </a:prstGeom>
          <a:solidFill>
            <a:srgbClr val="1E314C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8568" y="2838480"/>
            <a:ext cx="193487" cy="1934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63640" y="2578608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structured, comparable view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532120" y="3419856"/>
            <a:ext cx="3063240" cy="713232"/>
          </a:xfrm>
          <a:prstGeom prst="roundRect">
            <a:avLst>
              <a:gd name="adj" fmla="val 10256"/>
            </a:avLst>
          </a:prstGeom>
          <a:solidFill>
            <a:srgbClr val="16263D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715000" y="3566160"/>
            <a:ext cx="420624" cy="420624"/>
          </a:xfrm>
          <a:prstGeom prst="ellipse">
            <a:avLst/>
          </a:prstGeom>
          <a:solidFill>
            <a:srgbClr val="1E314C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568" y="3679728"/>
            <a:ext cx="193487" cy="19348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63640" y="3419856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Evidence-grounded, not search-derived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548640" y="4800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7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pPr indent="0" marL="0">
              <a:buNone/>
            </a:pPr>
            <a:r>
              <a:rPr lang="en-US" sz="900" b="1" spc="100" kern="0" dirty="0">
                <a:solidFill>
                  <a:srgbClr val="8094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TrendIn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832104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4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7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DIFFERENCE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EAEF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Supported, not circular.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3886200" cy="2788920"/>
          </a:xfrm>
          <a:prstGeom prst="roundRect">
            <a:avLst>
              <a:gd name="adj" fmla="val 2623"/>
            </a:avLst>
          </a:prstGeom>
          <a:solidFill>
            <a:srgbClr val="16263D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566928" cy="566928"/>
          </a:xfrm>
          <a:prstGeom prst="ellipse">
            <a:avLst/>
          </a:prstGeom>
          <a:solidFill>
            <a:srgbClr val="1E314C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031" y="2027591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385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094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CIRCULAR INTELLIGENCE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2697480"/>
            <a:ext cx="3337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2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 attention by re-reading the mainstream’s own footprint.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2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 what is already known.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2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claims it cannot test.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404164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094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tells you what you already see.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09160" y="1627632"/>
            <a:ext cx="3886200" cy="2788920"/>
          </a:xfrm>
          <a:prstGeom prst="roundRect">
            <a:avLst>
              <a:gd name="adj" fmla="val 2623"/>
            </a:avLst>
          </a:prstGeom>
          <a:solidFill>
            <a:srgbClr val="1E314C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83480" y="1874520"/>
            <a:ext cx="566928" cy="566928"/>
          </a:xfrm>
          <a:prstGeom prst="ellipse">
            <a:avLst/>
          </a:prstGeom>
          <a:solidFill>
            <a:srgbClr val="16263D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6551" y="2027591"/>
            <a:ext cx="260787" cy="26078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19385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07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INTELLIGENCE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029200" y="2697480"/>
            <a:ext cx="3337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A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Grounds every read in independent upstream channels.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A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Surfaces signal beneath the surface, off-search.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A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Presents only what the evidence supports.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029200" y="404164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07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shows you what others can’t.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48640" y="4800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7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pPr indent="0" marL="0">
              <a:buNone/>
            </a:pPr>
            <a:r>
              <a:rPr lang="en-US" sz="900" b="1" spc="100" kern="0" dirty="0">
                <a:solidFill>
                  <a:srgbClr val="8094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TrendIn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832104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4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7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CREDIBILITY BY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EAEF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Disciplined enough to show its work.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C2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category built on unfalsifiable claims, our differentiator is discipline. We are built to be measured — to present only what the data supports, and to withhold what it doesn’t. Credibility isn’t a feature we added. It’s the architecture.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2532888" cy="1691640"/>
          </a:xfrm>
          <a:prstGeom prst="roundRect">
            <a:avLst>
              <a:gd name="adj" fmla="val 4324"/>
            </a:avLst>
          </a:prstGeom>
          <a:solidFill>
            <a:srgbClr val="16263D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926080"/>
            <a:ext cx="548640" cy="548640"/>
          </a:xfrm>
          <a:prstGeom prst="ellipse">
            <a:avLst/>
          </a:prstGeom>
          <a:solidFill>
            <a:srgbClr val="1E314C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5" y="3074213"/>
            <a:ext cx="252374" cy="2523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58444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over echo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04672" y="389534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094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read traces to independent signal — never to the mainstream’s own footprint.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64408" y="2697480"/>
            <a:ext cx="2532888" cy="1691640"/>
          </a:xfrm>
          <a:prstGeom prst="roundRect">
            <a:avLst>
              <a:gd name="adj" fmla="val 4324"/>
            </a:avLst>
          </a:prstGeom>
          <a:solidFill>
            <a:srgbClr val="16263D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20440" y="2926080"/>
            <a:ext cx="548640" cy="548640"/>
          </a:xfrm>
          <a:prstGeom prst="ellipse">
            <a:avLst/>
          </a:prstGeom>
          <a:solidFill>
            <a:srgbClr val="1E314C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573" y="3074213"/>
            <a:ext cx="252374" cy="25237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358444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work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520440" y="389534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094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 to a measured, published standard rather than a marketing claim.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980176" y="2697480"/>
            <a:ext cx="2532888" cy="1691640"/>
          </a:xfrm>
          <a:prstGeom prst="roundRect">
            <a:avLst>
              <a:gd name="adj" fmla="val 4324"/>
            </a:avLst>
          </a:prstGeom>
          <a:solidFill>
            <a:srgbClr val="16263D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36208" y="2926080"/>
            <a:ext cx="548640" cy="548640"/>
          </a:xfrm>
          <a:prstGeom prst="ellipse">
            <a:avLst/>
          </a:prstGeom>
          <a:solidFill>
            <a:srgbClr val="1E314C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341" y="3074213"/>
            <a:ext cx="252374" cy="25237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36208" y="358444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only what holds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236208" y="389534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094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present what the data supports and withhold what it doesn’t — by design.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548640" y="4800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7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pPr indent="0" marL="0">
              <a:buNone/>
            </a:pPr>
            <a:r>
              <a:rPr lang="en-US" sz="900" b="1" spc="100" kern="0" dirty="0">
                <a:solidFill>
                  <a:srgbClr val="8094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TrendIn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832104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4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7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IT’S FOR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EAEF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institutions, not the crowd.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C2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Free, public, search-based tools serve everyone — which is exactly why they give no one an edge. Now TrendIn is a private vantage for those whose decisions carry weight.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886200" cy="1783080"/>
          </a:xfrm>
          <a:prstGeom prst="roundRect">
            <a:avLst>
              <a:gd name="adj" fmla="val 4103"/>
            </a:avLst>
          </a:prstGeom>
          <a:solidFill>
            <a:srgbClr val="16263D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852928"/>
            <a:ext cx="548640" cy="548640"/>
          </a:xfrm>
          <a:prstGeom prst="ellipse">
            <a:avLst/>
          </a:prstGeom>
          <a:solidFill>
            <a:srgbClr val="1E314C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3001061"/>
            <a:ext cx="252374" cy="2523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9077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8094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EVERYONE’S TOOL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36118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2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public · search-derived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2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late view everyone already shares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709160" y="2606040"/>
            <a:ext cx="3886200" cy="1783080"/>
          </a:xfrm>
          <a:prstGeom prst="roundRect">
            <a:avLst>
              <a:gd name="adj" fmla="val 4103"/>
            </a:avLst>
          </a:prstGeom>
          <a:solidFill>
            <a:srgbClr val="1E314C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83480" y="2852928"/>
            <a:ext cx="548640" cy="548640"/>
          </a:xfrm>
          <a:prstGeom prst="ellipse">
            <a:avLst/>
          </a:prstGeom>
          <a:solidFill>
            <a:srgbClr val="16263D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1613" y="3001061"/>
            <a:ext cx="252374" cy="25237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29077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07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INSTRUMENT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029200" y="36118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A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· defensible · off-search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A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private vantage built for tech &amp; finance decisions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48640" y="4800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7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pPr indent="0" marL="0">
              <a:buNone/>
            </a:pPr>
            <a:r>
              <a:rPr lang="en-US" sz="900" b="1" spc="100" kern="0" dirty="0">
                <a:solidFill>
                  <a:srgbClr val="8094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TrendIn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832104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4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7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 TO CAPITAL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EAEF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institutions pay for.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886200" cy="1207008"/>
          </a:xfrm>
          <a:prstGeom prst="roundRect">
            <a:avLst>
              <a:gd name="adj" fmla="val 6061"/>
            </a:avLst>
          </a:prstGeom>
          <a:solidFill>
            <a:srgbClr val="16263D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29384"/>
            <a:ext cx="566928" cy="566928"/>
          </a:xfrm>
          <a:prstGeom prst="ellipse">
            <a:avLst/>
          </a:prstGeom>
          <a:solidFill>
            <a:srgbClr val="1E314C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743" y="2082455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562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Independence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54480" y="21945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2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vantage not already shared by the whole market — the precondition for edge.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63440" y="1691640"/>
            <a:ext cx="3886200" cy="1207008"/>
          </a:xfrm>
          <a:prstGeom prst="roundRect">
            <a:avLst>
              <a:gd name="adj" fmla="val 6061"/>
            </a:avLst>
          </a:prstGeom>
          <a:solidFill>
            <a:srgbClr val="16263D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19472" y="1929384"/>
            <a:ext cx="566928" cy="566928"/>
          </a:xfrm>
          <a:prstGeom prst="ellipse">
            <a:avLst/>
          </a:prstGeom>
          <a:solidFill>
            <a:srgbClr val="1E314C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2543" y="2082455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8562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Defensibility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669280" y="21945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2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you can stand behind, traceable to evidence rather than echo.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063240"/>
            <a:ext cx="3886200" cy="1207008"/>
          </a:xfrm>
          <a:prstGeom prst="roundRect">
            <a:avLst>
              <a:gd name="adj" fmla="val 6061"/>
            </a:avLst>
          </a:prstGeom>
          <a:solidFill>
            <a:srgbClr val="16263D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300984"/>
            <a:ext cx="566928" cy="566928"/>
          </a:xfrm>
          <a:prstGeom prst="ellipse">
            <a:avLst/>
          </a:prstGeom>
          <a:solidFill>
            <a:srgbClr val="1E314C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743" y="3454055"/>
            <a:ext cx="260787" cy="2607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2278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Breadth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554480" y="35661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2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independent upstream channels, in one structured view.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663440" y="3063240"/>
            <a:ext cx="3886200" cy="1207008"/>
          </a:xfrm>
          <a:prstGeom prst="roundRect">
            <a:avLst>
              <a:gd name="adj" fmla="val 6061"/>
            </a:avLst>
          </a:prstGeom>
          <a:solidFill>
            <a:srgbClr val="16263D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19472" y="3300984"/>
            <a:ext cx="566928" cy="566928"/>
          </a:xfrm>
          <a:prstGeom prst="ellipse">
            <a:avLst/>
          </a:prstGeom>
          <a:solidFill>
            <a:srgbClr val="1E314C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2543" y="3454055"/>
            <a:ext cx="260787" cy="26078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69280" y="32278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669280" y="35661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2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what the data supports — no circular signal, no manufactured confidence.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48640" y="4800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7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pPr indent="0" marL="0">
              <a:buNone/>
            </a:pPr>
            <a:r>
              <a:rPr lang="en-US" sz="900" b="1" spc="100" kern="0" dirty="0">
                <a:solidFill>
                  <a:srgbClr val="8094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TrendIn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32104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4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7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IS GOING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EAEF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Measurement today. Detection as the goal.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C2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 not claim to predict attention today. We measure where it forms — rigorously, across channels, grounded in evidence. That foundation is the only one from which genuine early detection could credibly emerge.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3657600" cy="1691640"/>
          </a:xfrm>
          <a:prstGeom prst="roundRect">
            <a:avLst>
              <a:gd name="adj" fmla="val 4324"/>
            </a:avLst>
          </a:prstGeom>
          <a:solidFill>
            <a:srgbClr val="1E314C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971800"/>
            <a:ext cx="548640" cy="548640"/>
          </a:xfrm>
          <a:prstGeom prst="ellipse">
            <a:avLst/>
          </a:prstGeom>
          <a:solidFill>
            <a:srgbClr val="16263D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3119933"/>
            <a:ext cx="252374" cy="2523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36118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A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measurement — independent, multi-channel, evidence-grounded.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3291840"/>
            <a:ext cx="411480" cy="4114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937760" y="2697480"/>
            <a:ext cx="3657600" cy="1691640"/>
          </a:xfrm>
          <a:prstGeom prst="roundRect">
            <a:avLst>
              <a:gd name="adj" fmla="val 4324"/>
            </a:avLst>
          </a:prstGeom>
          <a:solidFill>
            <a:srgbClr val="16263D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212080" y="2971800"/>
            <a:ext cx="548640" cy="548640"/>
          </a:xfrm>
          <a:prstGeom prst="ellipse">
            <a:avLst/>
          </a:prstGeom>
          <a:solidFill>
            <a:srgbClr val="1E314C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0213" y="3119933"/>
            <a:ext cx="252374" cy="25237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89788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094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5212080" y="36118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2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detection — as AI and data capability improve, surfaced only when the evidence supports it.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548640" y="4800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7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pPr indent="0" marL="0">
              <a:buNone/>
            </a:pPr>
            <a:r>
              <a:rPr lang="en-US" sz="900" b="1" spc="100" kern="0" dirty="0">
                <a:solidFill>
                  <a:srgbClr val="8094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TrendIn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832104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4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7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EAEF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foundation is the moat.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886200" cy="1207008"/>
          </a:xfrm>
          <a:prstGeom prst="roundRect">
            <a:avLst>
              <a:gd name="adj" fmla="val 6061"/>
            </a:avLst>
          </a:prstGeom>
          <a:solidFill>
            <a:srgbClr val="16263D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29384"/>
            <a:ext cx="566928" cy="566928"/>
          </a:xfrm>
          <a:prstGeom prst="ellipse">
            <a:avLst/>
          </a:prstGeom>
          <a:solidFill>
            <a:srgbClr val="1E314C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743" y="2082455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562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search can’t see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54480" y="21945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2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Independent, multi-channel signal that a search index structurally cannot replicate.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691640"/>
            <a:ext cx="3886200" cy="1207008"/>
          </a:xfrm>
          <a:prstGeom prst="roundRect">
            <a:avLst>
              <a:gd name="adj" fmla="val 6061"/>
            </a:avLst>
          </a:prstGeom>
          <a:solidFill>
            <a:srgbClr val="16263D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19472" y="1929384"/>
            <a:ext cx="566928" cy="566928"/>
          </a:xfrm>
          <a:prstGeom prst="ellipse">
            <a:avLst/>
          </a:prstGeom>
          <a:solidFill>
            <a:srgbClr val="1E314C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2543" y="2082455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8562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 as architecture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669280" y="21945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2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measured, falsifiable discipline — rare in a field of unprovable claims.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063240"/>
            <a:ext cx="3886200" cy="1207008"/>
          </a:xfrm>
          <a:prstGeom prst="roundRect">
            <a:avLst>
              <a:gd name="adj" fmla="val 6061"/>
            </a:avLst>
          </a:prstGeom>
          <a:solidFill>
            <a:srgbClr val="16263D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300984"/>
            <a:ext cx="566928" cy="566928"/>
          </a:xfrm>
          <a:prstGeom prst="ellipse">
            <a:avLst/>
          </a:prstGeom>
          <a:solidFill>
            <a:srgbClr val="1E314C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743" y="3454055"/>
            <a:ext cx="260787" cy="2607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2278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by design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554480" y="35661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2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vantage, defensibility, and delivery that capital requires.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63440" y="3063240"/>
            <a:ext cx="3886200" cy="1207008"/>
          </a:xfrm>
          <a:prstGeom prst="roundRect">
            <a:avLst>
              <a:gd name="adj" fmla="val 6061"/>
            </a:avLst>
          </a:prstGeom>
          <a:solidFill>
            <a:srgbClr val="16263D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19472" y="3300984"/>
            <a:ext cx="566928" cy="566928"/>
          </a:xfrm>
          <a:prstGeom prst="ellipse">
            <a:avLst/>
          </a:prstGeom>
          <a:solidFill>
            <a:srgbClr val="1E314C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2543" y="3454055"/>
            <a:ext cx="260787" cy="26078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69280" y="32278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E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what’s next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5669280" y="35661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2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non-circular base from which supported detection can emerge.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48640" y="4800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7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pPr indent="0" marL="0">
              <a:buNone/>
            </a:pPr>
            <a:r>
              <a:rPr lang="en-US" sz="900" b="1" spc="100" kern="0" dirty="0">
                <a:solidFill>
                  <a:srgbClr val="8094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TrendIn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32104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4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960120"/>
            <a:ext cx="822960" cy="822960"/>
          </a:xfrm>
          <a:prstGeom prst="ellipse">
            <a:avLst/>
          </a:prstGeom>
          <a:solidFill>
            <a:srgbClr val="16263D"/>
          </a:solidFill>
          <a:ln/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2719" y="1182319"/>
            <a:ext cx="378562" cy="3785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8745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07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</a:t>
            </a:r>
            <a:pPr algn="ctr" indent="0" marL="0">
              <a:buNone/>
            </a:pPr>
            <a:r>
              <a:rPr lang="en-US" sz="3600" b="1" dirty="0">
                <a:solidFill>
                  <a:srgbClr val="EAEF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TrendIn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0" y="2514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2CE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Attention, grounded in evidence.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280160" y="320040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8094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attention platform built on signal search can’t see —</a:t>
            </a:r>
            <a:endParaRPr lang="en-US" sz="13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8094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disciplined enough to show its work.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0" y="41605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07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talk.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Now TrendIn — Attention Intelligence</dc:title>
  <dc:subject>PptxGenJS Presentation</dc:subject>
  <dc:creator>Now TrendIn</dc:creator>
  <cp:lastModifiedBy>Now TrendIn</cp:lastModifiedBy>
  <cp:revision>1</cp:revision>
  <dcterms:created xsi:type="dcterms:W3CDTF">2026-06-21T23:51:25Z</dcterms:created>
  <dcterms:modified xsi:type="dcterms:W3CDTF">2026-06-21T23:51:25Z</dcterms:modified>
</cp:coreProperties>
</file>